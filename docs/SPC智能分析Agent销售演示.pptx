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e3b9e66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0" y="0"/>
            <a:ext cx="3810000" cy="3810000"/>
          </a:xfrm>
          <a:prstGeom prst="rect">
            <a:avLst/>
          </a:prstGeom>
        </p:spPr>
      </p:pic>
      <p:pic>
        <p:nvPicPr>
          <p:cNvPr id="3" name="Image 1" descr="/tmp/rasterized-gradient-37d82bb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86000"/>
            <a:ext cx="2857500" cy="2857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949970" y="1139279"/>
            <a:ext cx="324376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rPr lang="en-US" sz="105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QUALITY CONTROL</a:t>
            </a:r>
            <a:endParaRPr lang="en-US" sz="1050" dirty="0"/>
          </a:p>
        </p:txBody>
      </p:sp>
      <p:sp>
        <p:nvSpPr>
          <p:cNvPr id="5" name="Text 1"/>
          <p:cNvSpPr/>
          <p:nvPr/>
        </p:nvSpPr>
        <p:spPr>
          <a:xfrm>
            <a:off x="2212046" y="1630710"/>
            <a:ext cx="471976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00"/>
              </a:lnSpc>
              <a:buNone/>
            </a:pPr>
            <a:r>
              <a:rPr lang="en-US" sz="42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SPC智能分析Agent</a:t>
            </a:r>
            <a:endParaRPr lang="en-US" sz="4200" dirty="0"/>
          </a:p>
        </p:txBody>
      </p:sp>
      <p:pic>
        <p:nvPicPr>
          <p:cNvPr id="6" name="Image 2" descr="/tmp/rasterized-gradient-8a210f0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351" y="2545110"/>
            <a:ext cx="1143000" cy="381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2755053" y="2964210"/>
            <a:ext cx="3633597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开箱即用的统计过程控制智能分析平台</a:t>
            </a:r>
            <a:endParaRPr lang="en-US" sz="1650" dirty="0"/>
          </a:p>
        </p:txBody>
      </p:sp>
      <p:sp>
        <p:nvSpPr>
          <p:cNvPr id="8" name="Text 3"/>
          <p:cNvSpPr/>
          <p:nvPr/>
        </p:nvSpPr>
        <p:spPr>
          <a:xfrm>
            <a:off x="3487966" y="3790950"/>
            <a:ext cx="216777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让数据驱动质量，让AI赋能决策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痛点</a:t>
            </a:r>
            <a:pPr algn="l" indent="0" marL="0">
              <a:lnSpc>
                <a:spcPts val="2550"/>
              </a:lnSpc>
              <a:buNone/>
            </a:pPr>
            <a:r>
              <a:rPr lang="en-US" sz="255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传统质量管理的困境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381000" y="1426071"/>
            <a:ext cx="4533900" cy="897136"/>
          </a:xfrm>
          <a:prstGeom prst="roundRect">
            <a:avLst>
              <a:gd name="adj" fmla="val 12741"/>
            </a:avLst>
          </a:prstGeom>
          <a:solidFill>
            <a:srgbClr val="1522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00050" y="1426071"/>
            <a:ext cx="0" cy="897136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9600" y="1616571"/>
            <a:ext cx="41970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门槛高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09600" y="1932682"/>
            <a:ext cx="41970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SPC专业知识要求高，普通员工难以掌握控制图选择和参数计算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1000" y="2475607"/>
            <a:ext cx="4533900" cy="897136"/>
          </a:xfrm>
          <a:prstGeom prst="roundRect">
            <a:avLst>
              <a:gd name="adj" fmla="val 12741"/>
            </a:avLst>
          </a:prstGeom>
          <a:solidFill>
            <a:srgbClr val="1522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00050" y="2475607"/>
            <a:ext cx="0" cy="897136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9600" y="2666107"/>
            <a:ext cx="41970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效率低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09600" y="2982218"/>
            <a:ext cx="41970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手工绘图、人工判读耗时费力，无法应对海量实时数据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81000" y="3525143"/>
            <a:ext cx="4533900" cy="897136"/>
          </a:xfrm>
          <a:prstGeom prst="roundRect">
            <a:avLst>
              <a:gd name="adj" fmla="val 12741"/>
            </a:avLst>
          </a:prstGeom>
          <a:solidFill>
            <a:srgbClr val="1522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00050" y="3525143"/>
            <a:ext cx="0" cy="897136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9600" y="3715643"/>
            <a:ext cx="41970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响应慢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09600" y="4031754"/>
            <a:ext cx="41970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异常发现滞后，等到质量问题暴露时已造成大量不良品</a:t>
            </a:r>
            <a:endParaRPr lang="en-US" sz="1050" dirty="0"/>
          </a:p>
        </p:txBody>
      </p:sp>
      <p:pic>
        <p:nvPicPr>
          <p:cNvPr id="15" name="Image 0" descr="/tmp/rasterized-gradient-9d0d726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3500" y="837456"/>
            <a:ext cx="3619500" cy="417343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545199" y="1123206"/>
            <a:ext cx="81610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行业调研数据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253128" y="1614636"/>
            <a:ext cx="1400095" cy="960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56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54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5400" dirty="0"/>
          </a:p>
        </p:txBody>
      </p:sp>
      <p:sp>
        <p:nvSpPr>
          <p:cNvPr id="18" name="Text 15"/>
          <p:cNvSpPr/>
          <p:nvPr/>
        </p:nvSpPr>
        <p:spPr>
          <a:xfrm>
            <a:off x="5398770" y="2879527"/>
            <a:ext cx="3108960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的制造企业因缺乏有效的过程监控导致质量损失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429250" y="3648968"/>
            <a:ext cx="3048000" cy="9525"/>
          </a:xfrm>
          <a:prstGeom prst="rect">
            <a:avLst/>
          </a:prstGeom>
          <a:solidFill>
            <a:srgbClr val="2A4A6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5819799" y="4001393"/>
            <a:ext cx="635151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3-5%</a:t>
            </a:r>
            <a:endParaRPr lang="en-US" sz="2100" dirty="0"/>
          </a:p>
        </p:txBody>
      </p:sp>
      <p:sp>
        <p:nvSpPr>
          <p:cNvPr id="21" name="Text 18"/>
          <p:cNvSpPr/>
          <p:nvPr/>
        </p:nvSpPr>
        <p:spPr>
          <a:xfrm>
            <a:off x="5845909" y="4565154"/>
            <a:ext cx="58293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平均不良率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7503188" y="4001393"/>
            <a:ext cx="468773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48h</a:t>
            </a:r>
            <a:endParaRPr lang="en-US" sz="2100" dirty="0"/>
          </a:p>
        </p:txBody>
      </p:sp>
      <p:sp>
        <p:nvSpPr>
          <p:cNvPr id="23" name="Text 20"/>
          <p:cNvSpPr/>
          <p:nvPr/>
        </p:nvSpPr>
        <p:spPr>
          <a:xfrm>
            <a:off x="7387816" y="4565154"/>
            <a:ext cx="69951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平均响应时间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35254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解决方案</a:t>
            </a:r>
            <a:pPr algn="l" indent="0" marL="0">
              <a:lnSpc>
                <a:spcPts val="2550"/>
              </a:lnSpc>
              <a:buNone/>
            </a:pPr>
            <a:r>
              <a:rPr lang="en-US" sz="255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智能SPC分析Agent</a:t>
            </a:r>
            <a:endParaRPr lang="en-US" sz="2550" dirty="0"/>
          </a:p>
        </p:txBody>
      </p:sp>
      <p:pic>
        <p:nvPicPr>
          <p:cNvPr id="3" name="Image 0" descr="/tmp/rasterized-gradient-b1117ff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185" y="1495425"/>
            <a:ext cx="762000" cy="762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4289" y="2524125"/>
            <a:ext cx="62179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数据上传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26473" y="2927896"/>
            <a:ext cx="55727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Excel/CSV</a:t>
            </a:r>
            <a:endParaRPr lang="en-US" sz="900" dirty="0"/>
          </a:p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API接入</a:t>
            </a:r>
            <a:endParaRPr lang="en-US" sz="900" dirty="0"/>
          </a:p>
        </p:txBody>
      </p:sp>
      <p:pic>
        <p:nvPicPr>
          <p:cNvPr id="6" name="Image 1" descr="/tmp/rasterized-gradient-47b25e5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9370" y="2352526"/>
            <a:ext cx="535037" cy="38100"/>
          </a:xfrm>
          <a:prstGeom prst="rect">
            <a:avLst/>
          </a:prstGeom>
        </p:spPr>
      </p:pic>
      <p:pic>
        <p:nvPicPr>
          <p:cNvPr id="7" name="Image 2" descr="/tmp/rasterized-gradient-3b88e5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7593" y="1495425"/>
            <a:ext cx="762000" cy="7620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477697" y="2524125"/>
            <a:ext cx="62179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智能判断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2438835" y="2927896"/>
            <a:ext cx="69951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数据类型识别</a:t>
            </a:r>
            <a:endParaRPr lang="en-US" sz="900" dirty="0"/>
          </a:p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样本量分析</a:t>
            </a:r>
            <a:endParaRPr lang="en-US" sz="900" dirty="0"/>
          </a:p>
        </p:txBody>
      </p:sp>
      <p:pic>
        <p:nvPicPr>
          <p:cNvPr id="10" name="Image 3" descr="/tmp/rasterized-gradient-05ed789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2778" y="2352526"/>
            <a:ext cx="535037" cy="38100"/>
          </a:xfrm>
          <a:prstGeom prst="rect">
            <a:avLst/>
          </a:prstGeom>
        </p:spPr>
      </p:pic>
      <p:pic>
        <p:nvPicPr>
          <p:cNvPr id="11" name="Image 4" descr="/tmp/rasterized-gradient-4277fa2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1000" y="1495425"/>
            <a:ext cx="762000" cy="76200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4261104" y="2524125"/>
            <a:ext cx="62179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自动选图</a:t>
            </a:r>
            <a:endParaRPr lang="en-US" sz="1200" dirty="0"/>
          </a:p>
        </p:txBody>
      </p:sp>
      <p:sp>
        <p:nvSpPr>
          <p:cNvPr id="13" name="Text 6"/>
          <p:cNvSpPr/>
          <p:nvPr/>
        </p:nvSpPr>
        <p:spPr>
          <a:xfrm>
            <a:off x="4280535" y="2927896"/>
            <a:ext cx="58293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最优控制图</a:t>
            </a:r>
            <a:endParaRPr lang="en-US" sz="900" dirty="0"/>
          </a:p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参数计算</a:t>
            </a:r>
            <a:endParaRPr lang="en-US" sz="900" dirty="0"/>
          </a:p>
        </p:txBody>
      </p:sp>
      <p:pic>
        <p:nvPicPr>
          <p:cNvPr id="14" name="Image 5" descr="/tmp/rasterized-gradient-20177fd7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96185" y="2352526"/>
            <a:ext cx="535037" cy="38100"/>
          </a:xfrm>
          <a:prstGeom prst="rect">
            <a:avLst/>
          </a:prstGeom>
        </p:spPr>
      </p:pic>
      <p:pic>
        <p:nvPicPr>
          <p:cNvPr id="15" name="Image 6" descr="/tmp/rasterized-gradient-d8acc0f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74407" y="1495425"/>
            <a:ext cx="762000" cy="762000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6044511" y="2524125"/>
            <a:ext cx="62179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异常检测</a:t>
            </a:r>
            <a:endParaRPr lang="en-US" sz="1200" dirty="0"/>
          </a:p>
        </p:txBody>
      </p:sp>
      <p:sp>
        <p:nvSpPr>
          <p:cNvPr id="17" name="Text 8"/>
          <p:cNvSpPr/>
          <p:nvPr/>
        </p:nvSpPr>
        <p:spPr>
          <a:xfrm>
            <a:off x="6122235" y="2927896"/>
            <a:ext cx="46634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西联规则</a:t>
            </a:r>
            <a:endParaRPr lang="en-US" sz="900" dirty="0"/>
          </a:p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实时扫描</a:t>
            </a:r>
            <a:endParaRPr lang="en-US" sz="900" dirty="0"/>
          </a:p>
        </p:txBody>
      </p:sp>
      <p:pic>
        <p:nvPicPr>
          <p:cNvPr id="18" name="Image 7" descr="/tmp/rasterized-gradient-ea77116a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79593" y="2352526"/>
            <a:ext cx="535037" cy="38100"/>
          </a:xfrm>
          <a:prstGeom prst="rect">
            <a:avLst/>
          </a:prstGeom>
        </p:spPr>
      </p:pic>
      <p:pic>
        <p:nvPicPr>
          <p:cNvPr id="19" name="Image 8" descr="/tmp/rasterized-gradient-4913f5db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57815" y="1495425"/>
            <a:ext cx="762000" cy="762000"/>
          </a:xfrm>
          <a:prstGeom prst="rect">
            <a:avLst/>
          </a:prstGeom>
        </p:spPr>
      </p:pic>
      <p:sp>
        <p:nvSpPr>
          <p:cNvPr id="20" name="Text 9"/>
          <p:cNvSpPr/>
          <p:nvPr/>
        </p:nvSpPr>
        <p:spPr>
          <a:xfrm>
            <a:off x="7827919" y="2524125"/>
            <a:ext cx="62179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即时预警</a:t>
            </a:r>
            <a:endParaRPr lang="en-US" sz="1200" dirty="0"/>
          </a:p>
        </p:txBody>
      </p:sp>
      <p:sp>
        <p:nvSpPr>
          <p:cNvPr id="21" name="Text 10"/>
          <p:cNvSpPr/>
          <p:nvPr/>
        </p:nvSpPr>
        <p:spPr>
          <a:xfrm>
            <a:off x="7847350" y="2927896"/>
            <a:ext cx="58293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多渠道推送</a:t>
            </a:r>
            <a:endParaRPr lang="en-US" sz="900" dirty="0"/>
          </a:p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处置建议</a:t>
            </a:r>
            <a:endParaRPr lang="en-US" sz="900" dirty="0"/>
          </a:p>
        </p:txBody>
      </p:sp>
      <p:sp>
        <p:nvSpPr>
          <p:cNvPr id="22" name="Text 11"/>
          <p:cNvSpPr/>
          <p:nvPr/>
        </p:nvSpPr>
        <p:spPr>
          <a:xfrm>
            <a:off x="1309390" y="3781276"/>
            <a:ext cx="1523554" cy="571500"/>
          </a:xfrm>
          <a:prstGeom prst="roundRect">
            <a:avLst>
              <a:gd name="adj" fmla="val 13333"/>
            </a:avLst>
          </a:prstGeom>
          <a:solidFill>
            <a:srgbClr val="1522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2"/>
          <p:cNvSpPr/>
          <p:nvPr/>
        </p:nvSpPr>
        <p:spPr>
          <a:xfrm>
            <a:off x="3023443" y="3781276"/>
            <a:ext cx="1390204" cy="571500"/>
          </a:xfrm>
          <a:prstGeom prst="roundRect">
            <a:avLst>
              <a:gd name="adj" fmla="val 13333"/>
            </a:avLst>
          </a:prstGeom>
          <a:solidFill>
            <a:srgbClr val="1522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13"/>
          <p:cNvSpPr/>
          <p:nvPr/>
        </p:nvSpPr>
        <p:spPr>
          <a:xfrm>
            <a:off x="4604147" y="3781276"/>
            <a:ext cx="1516261" cy="571500"/>
          </a:xfrm>
          <a:prstGeom prst="roundRect">
            <a:avLst>
              <a:gd name="adj" fmla="val 13333"/>
            </a:avLst>
          </a:prstGeom>
          <a:solidFill>
            <a:srgbClr val="1522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14"/>
          <p:cNvSpPr/>
          <p:nvPr/>
        </p:nvSpPr>
        <p:spPr>
          <a:xfrm>
            <a:off x="6310908" y="3781276"/>
            <a:ext cx="1523554" cy="571500"/>
          </a:xfrm>
          <a:prstGeom prst="roundRect">
            <a:avLst>
              <a:gd name="adj" fmla="val 13333"/>
            </a:avLst>
          </a:prstGeom>
          <a:solidFill>
            <a:srgbClr val="1522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核心功能</a:t>
            </a:r>
            <a:pPr algn="l" indent="0" marL="0">
              <a:lnSpc>
                <a:spcPts val="2550"/>
              </a:lnSpc>
              <a:buNone/>
            </a:pPr>
            <a:r>
              <a:rPr lang="en-US" sz="255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智能控制图引擎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381000" y="1289000"/>
            <a:ext cx="443026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连续型数据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1000" y="1628031"/>
            <a:ext cx="874365" cy="699046"/>
          </a:xfrm>
          <a:prstGeom prst="roundRect">
            <a:avLst>
              <a:gd name="adj" fmla="val 10901"/>
            </a:avLst>
          </a:prstGeom>
          <a:solidFill>
            <a:srgbClr val="1E3A5F"/>
          </a:solidFill>
          <a:ln w="9525">
            <a:solidFill>
              <a:srgbClr val="2A4A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42925" y="1751856"/>
            <a:ext cx="5615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IX-mR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2925" y="2056656"/>
            <a:ext cx="56152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单值数据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1331565" y="1628031"/>
            <a:ext cx="948482" cy="699046"/>
          </a:xfrm>
          <a:prstGeom prst="roundRect">
            <a:avLst>
              <a:gd name="adj" fmla="val 10901"/>
            </a:avLst>
          </a:prstGeom>
          <a:solidFill>
            <a:srgbClr val="1E3A5F"/>
          </a:solidFill>
          <a:ln w="9525">
            <a:solidFill>
              <a:srgbClr val="2A4A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493490" y="1751856"/>
            <a:ext cx="6371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Xbar-R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93490" y="2056656"/>
            <a:ext cx="637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小样本n&lt;10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2356247" y="1628031"/>
            <a:ext cx="941189" cy="699046"/>
          </a:xfrm>
          <a:prstGeom prst="roundRect">
            <a:avLst>
              <a:gd name="adj" fmla="val 10901"/>
            </a:avLst>
          </a:prstGeom>
          <a:solidFill>
            <a:srgbClr val="1E3A5F"/>
          </a:solidFill>
          <a:ln w="9525">
            <a:solidFill>
              <a:srgbClr val="2A4A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518172" y="1751856"/>
            <a:ext cx="6296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Xbar-σ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518172" y="2056656"/>
            <a:ext cx="6296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大样本n≥10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381000" y="2555677"/>
            <a:ext cx="443026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离散型数据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81000" y="2894707"/>
            <a:ext cx="847725" cy="699046"/>
          </a:xfrm>
          <a:prstGeom prst="roundRect">
            <a:avLst>
              <a:gd name="adj" fmla="val 10901"/>
            </a:avLst>
          </a:prstGeom>
          <a:solidFill>
            <a:srgbClr val="1E3A5F"/>
          </a:solidFill>
          <a:ln w="9525">
            <a:solidFill>
              <a:srgbClr val="2A4A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42925" y="3018532"/>
            <a:ext cx="53435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P图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2925" y="3323332"/>
            <a:ext cx="53435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不合格品率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1304925" y="2894707"/>
            <a:ext cx="847725" cy="699046"/>
          </a:xfrm>
          <a:prstGeom prst="roundRect">
            <a:avLst>
              <a:gd name="adj" fmla="val 10901"/>
            </a:avLst>
          </a:prstGeom>
          <a:solidFill>
            <a:srgbClr val="1E3A5F"/>
          </a:solidFill>
          <a:ln w="9525">
            <a:solidFill>
              <a:srgbClr val="2A4A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466850" y="3018532"/>
            <a:ext cx="53435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NP图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66850" y="3323332"/>
            <a:ext cx="53435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不合格品数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2228850" y="2894707"/>
            <a:ext cx="652016" cy="699046"/>
          </a:xfrm>
          <a:prstGeom prst="roundRect">
            <a:avLst>
              <a:gd name="adj" fmla="val 11687"/>
            </a:avLst>
          </a:prstGeom>
          <a:solidFill>
            <a:srgbClr val="1E3A5F"/>
          </a:solidFill>
          <a:ln w="9525">
            <a:solidFill>
              <a:srgbClr val="2A4A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390775" y="3018532"/>
            <a:ext cx="33472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C图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2390775" y="3323332"/>
            <a:ext cx="33472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缺陷数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2957066" y="2894707"/>
            <a:ext cx="847725" cy="699046"/>
          </a:xfrm>
          <a:prstGeom prst="roundRect">
            <a:avLst>
              <a:gd name="adj" fmla="val 10901"/>
            </a:avLst>
          </a:prstGeom>
          <a:solidFill>
            <a:srgbClr val="1E3A5F"/>
          </a:solidFill>
          <a:ln w="9525">
            <a:solidFill>
              <a:srgbClr val="2A4A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118991" y="3018532"/>
            <a:ext cx="53435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U图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118991" y="3323332"/>
            <a:ext cx="53435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单位缺陷率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381000" y="3822353"/>
            <a:ext cx="4343400" cy="736997"/>
          </a:xfrm>
          <a:prstGeom prst="roundRect">
            <a:avLst>
              <a:gd name="adj" fmla="val 15509"/>
            </a:avLst>
          </a:prstGeom>
          <a:solidFill>
            <a:srgbClr val="1522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33400" y="3974753"/>
            <a:ext cx="411937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智能决策逻辑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533400" y="4224189"/>
            <a:ext cx="4119372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数据类型识别 → 样本量判断 → 统计对象分析 → 自动匹配最优控制图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953000" y="1568797"/>
            <a:ext cx="3810000" cy="2710755"/>
          </a:xfrm>
          <a:prstGeom prst="roundRect">
            <a:avLst>
              <a:gd name="adj" fmla="val 5622"/>
            </a:avLst>
          </a:prstGeom>
          <a:solidFill>
            <a:srgbClr val="1E3A5F"/>
          </a:solidFill>
          <a:ln w="9525">
            <a:solidFill>
              <a:srgbClr val="2A4A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153025" y="1768822"/>
            <a:ext cx="347814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控制图示例 Xbar-R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153025" y="2069753"/>
            <a:ext cx="3409950" cy="1714500"/>
          </a:xfrm>
          <a:prstGeom prst="roundRect">
            <a:avLst>
              <a:gd name="adj" fmla="val 4444"/>
            </a:avLst>
          </a:prstGeom>
          <a:solidFill>
            <a:srgbClr val="1522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5305425" y="2269778"/>
            <a:ext cx="3105150" cy="0"/>
          </a:xfrm>
          <a:prstGeom prst="line">
            <a:avLst/>
          </a:prstGeom>
          <a:noFill/>
          <a:ln w="19050">
            <a:solidFill>
              <a:srgbClr val="FF6B3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81826" y="2145953"/>
            <a:ext cx="1944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UCL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5305425" y="2841278"/>
            <a:ext cx="3105150" cy="0"/>
          </a:xfrm>
          <a:prstGeom prst="line">
            <a:avLst/>
          </a:prstGeom>
          <a:noFill/>
          <a:ln w="19050">
            <a:solidFill>
              <a:srgbClr val="00D4A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50585" y="2717453"/>
            <a:ext cx="12432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5305425" y="3412778"/>
            <a:ext cx="3105150" cy="0"/>
          </a:xfrm>
          <a:prstGeom prst="line">
            <a:avLst/>
          </a:prstGeom>
          <a:noFill/>
          <a:ln w="19050">
            <a:solidFill>
              <a:srgbClr val="FF6B3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197602" y="3288953"/>
            <a:ext cx="1783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LCL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5534025" y="2736503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5915025" y="2927003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296025" y="2641253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677025" y="2879378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7058025" y="2212628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7439025" y="2784128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7820025" y="2974628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8201025" y="2688878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5153025" y="3969990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5753100" y="3960465"/>
            <a:ext cx="95250" cy="95250"/>
          </a:xfrm>
          <a:prstGeom prst="roundRect">
            <a:avLst>
              <a:gd name="adj" fmla="val 960000"/>
            </a:avLst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异常检测</a:t>
            </a:r>
            <a:pPr algn="l" indent="0" marL="0">
              <a:lnSpc>
                <a:spcPts val="2550"/>
              </a:lnSpc>
              <a:buNone/>
            </a:pPr>
            <a:r>
              <a:rPr lang="en-US" sz="255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8条西联规则引擎</a:t>
            </a:r>
            <a:endParaRPr lang="en-US" sz="2550" dirty="0"/>
          </a:p>
        </p:txBody>
      </p:sp>
      <p:pic>
        <p:nvPicPr>
          <p:cNvPr id="3" name="Image 0" descr="/tmp/rasterized-gradient-afb0edb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819150"/>
            <a:ext cx="2009775" cy="9199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875" y="1238250"/>
            <a:ext cx="175850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超出控制限</a:t>
            </a:r>
            <a:endParaRPr lang="en-US" sz="975" dirty="0"/>
          </a:p>
        </p:txBody>
      </p:sp>
      <p:sp>
        <p:nvSpPr>
          <p:cNvPr id="5" name="Text 2"/>
          <p:cNvSpPr/>
          <p:nvPr/>
        </p:nvSpPr>
        <p:spPr>
          <a:xfrm>
            <a:off x="523875" y="1449586"/>
            <a:ext cx="175850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1点超出±3σ</a:t>
            </a:r>
            <a:endParaRPr lang="en-US" sz="825" dirty="0"/>
          </a:p>
        </p:txBody>
      </p:sp>
      <p:sp>
        <p:nvSpPr>
          <p:cNvPr id="6" name="Text 3"/>
          <p:cNvSpPr/>
          <p:nvPr/>
        </p:nvSpPr>
        <p:spPr>
          <a:xfrm>
            <a:off x="2505075" y="819150"/>
            <a:ext cx="2009775" cy="919907"/>
          </a:xfrm>
          <a:prstGeom prst="roundRect">
            <a:avLst>
              <a:gd name="adj" fmla="val 12425"/>
            </a:avLst>
          </a:prstGeom>
          <a:solidFill>
            <a:srgbClr val="152238"/>
          </a:solidFill>
          <a:ln w="9525">
            <a:solidFill>
              <a:srgbClr val="2A4A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2647950" y="1238250"/>
            <a:ext cx="175850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过程偏移</a:t>
            </a:r>
            <a:endParaRPr lang="en-US" sz="975" dirty="0"/>
          </a:p>
        </p:txBody>
      </p:sp>
      <p:sp>
        <p:nvSpPr>
          <p:cNvPr id="8" name="Text 5"/>
          <p:cNvSpPr/>
          <p:nvPr/>
        </p:nvSpPr>
        <p:spPr>
          <a:xfrm>
            <a:off x="2647950" y="1449586"/>
            <a:ext cx="175850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连续9点在中心线同侧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4629150" y="819150"/>
            <a:ext cx="2009775" cy="919907"/>
          </a:xfrm>
          <a:prstGeom prst="roundRect">
            <a:avLst>
              <a:gd name="adj" fmla="val 12425"/>
            </a:avLst>
          </a:prstGeom>
          <a:solidFill>
            <a:srgbClr val="152238"/>
          </a:solidFill>
          <a:ln w="9525">
            <a:solidFill>
              <a:srgbClr val="2A4A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4772025" y="1238250"/>
            <a:ext cx="175850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趋势检测</a:t>
            </a:r>
            <a:endParaRPr lang="en-US" sz="975" dirty="0"/>
          </a:p>
        </p:txBody>
      </p:sp>
      <p:sp>
        <p:nvSpPr>
          <p:cNvPr id="11" name="Text 8"/>
          <p:cNvSpPr/>
          <p:nvPr/>
        </p:nvSpPr>
        <p:spPr>
          <a:xfrm>
            <a:off x="4772025" y="1449586"/>
            <a:ext cx="175850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连续6点持续上升/下降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6753225" y="819150"/>
            <a:ext cx="2009775" cy="919907"/>
          </a:xfrm>
          <a:prstGeom prst="roundRect">
            <a:avLst>
              <a:gd name="adj" fmla="val 12425"/>
            </a:avLst>
          </a:prstGeom>
          <a:solidFill>
            <a:srgbClr val="152238"/>
          </a:solidFill>
          <a:ln w="9525">
            <a:solidFill>
              <a:srgbClr val="2A4A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6896100" y="1238250"/>
            <a:ext cx="175850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非随机模式</a:t>
            </a:r>
            <a:endParaRPr lang="en-US" sz="975" dirty="0"/>
          </a:p>
        </p:txBody>
      </p:sp>
      <p:sp>
        <p:nvSpPr>
          <p:cNvPr id="14" name="Text 11"/>
          <p:cNvSpPr/>
          <p:nvPr/>
        </p:nvSpPr>
        <p:spPr>
          <a:xfrm>
            <a:off x="6896100" y="1449586"/>
            <a:ext cx="175850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连续14点交替上下</a:t>
            </a:r>
            <a:endParaRPr lang="en-US" sz="825" dirty="0"/>
          </a:p>
        </p:txBody>
      </p:sp>
      <p:sp>
        <p:nvSpPr>
          <p:cNvPr id="15" name="Text 12"/>
          <p:cNvSpPr/>
          <p:nvPr/>
        </p:nvSpPr>
        <p:spPr>
          <a:xfrm>
            <a:off x="381000" y="1853357"/>
            <a:ext cx="2009775" cy="919907"/>
          </a:xfrm>
          <a:prstGeom prst="roundRect">
            <a:avLst>
              <a:gd name="adj" fmla="val 12425"/>
            </a:avLst>
          </a:prstGeom>
          <a:solidFill>
            <a:srgbClr val="152238"/>
          </a:solidFill>
          <a:ln w="9525">
            <a:solidFill>
              <a:srgbClr val="2A4A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523875" y="2272457"/>
            <a:ext cx="175850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偏移预警</a:t>
            </a:r>
            <a:endParaRPr lang="en-US" sz="975" dirty="0"/>
          </a:p>
        </p:txBody>
      </p:sp>
      <p:sp>
        <p:nvSpPr>
          <p:cNvPr id="17" name="Text 14"/>
          <p:cNvSpPr/>
          <p:nvPr/>
        </p:nvSpPr>
        <p:spPr>
          <a:xfrm>
            <a:off x="523875" y="2483793"/>
            <a:ext cx="175850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3点中2点在±2σ~±3σ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2505075" y="1853357"/>
            <a:ext cx="2009775" cy="919907"/>
          </a:xfrm>
          <a:prstGeom prst="roundRect">
            <a:avLst>
              <a:gd name="adj" fmla="val 12425"/>
            </a:avLst>
          </a:prstGeom>
          <a:solidFill>
            <a:srgbClr val="152238"/>
          </a:solidFill>
          <a:ln w="9525">
            <a:solidFill>
              <a:srgbClr val="2A4A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2647950" y="2272457"/>
            <a:ext cx="175850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方差变化</a:t>
            </a:r>
            <a:endParaRPr lang="en-US" sz="975" dirty="0"/>
          </a:p>
        </p:txBody>
      </p:sp>
      <p:sp>
        <p:nvSpPr>
          <p:cNvPr id="20" name="Text 17"/>
          <p:cNvSpPr/>
          <p:nvPr/>
        </p:nvSpPr>
        <p:spPr>
          <a:xfrm>
            <a:off x="2647950" y="2483793"/>
            <a:ext cx="175850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5点中4点在±1σ~±3σ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4629150" y="1853357"/>
            <a:ext cx="2009775" cy="919907"/>
          </a:xfrm>
          <a:prstGeom prst="roundRect">
            <a:avLst>
              <a:gd name="adj" fmla="val 12425"/>
            </a:avLst>
          </a:prstGeom>
          <a:solidFill>
            <a:srgbClr val="152238"/>
          </a:solidFill>
          <a:ln w="9525">
            <a:solidFill>
              <a:srgbClr val="2A4A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4772025" y="2272457"/>
            <a:ext cx="175850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分层检测</a:t>
            </a:r>
            <a:endParaRPr lang="en-US" sz="975" dirty="0"/>
          </a:p>
        </p:txBody>
      </p:sp>
      <p:sp>
        <p:nvSpPr>
          <p:cNvPr id="23" name="Text 20"/>
          <p:cNvSpPr/>
          <p:nvPr/>
        </p:nvSpPr>
        <p:spPr>
          <a:xfrm>
            <a:off x="4772025" y="2483793"/>
            <a:ext cx="175850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连续15点在±1σ内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6753225" y="1853357"/>
            <a:ext cx="2009775" cy="919907"/>
          </a:xfrm>
          <a:prstGeom prst="roundRect">
            <a:avLst>
              <a:gd name="adj" fmla="val 12425"/>
            </a:avLst>
          </a:prstGeom>
          <a:solidFill>
            <a:srgbClr val="152238"/>
          </a:solidFill>
          <a:ln w="9525">
            <a:solidFill>
              <a:srgbClr val="2A4A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6896100" y="2272457"/>
            <a:ext cx="175850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数据混合</a:t>
            </a:r>
            <a:endParaRPr lang="en-US" sz="975" dirty="0"/>
          </a:p>
        </p:txBody>
      </p:sp>
      <p:sp>
        <p:nvSpPr>
          <p:cNvPr id="26" name="Text 23"/>
          <p:cNvSpPr/>
          <p:nvPr/>
        </p:nvSpPr>
        <p:spPr>
          <a:xfrm>
            <a:off x="6896100" y="2483793"/>
            <a:ext cx="175850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连续8点在±1σ外</a:t>
            </a:r>
            <a:endParaRPr lang="en-US" sz="825" dirty="0"/>
          </a:p>
        </p:txBody>
      </p:sp>
      <p:sp>
        <p:nvSpPr>
          <p:cNvPr id="27" name="Text 24"/>
          <p:cNvSpPr/>
          <p:nvPr/>
        </p:nvSpPr>
        <p:spPr>
          <a:xfrm>
            <a:off x="2494657" y="2992338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3955703" y="2992338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5416748" y="2992338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2A4A6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客户价值</a:t>
            </a:r>
            <a:pPr algn="l" indent="0" marL="0">
              <a:lnSpc>
                <a:spcPts val="2550"/>
              </a:lnSpc>
              <a:buNone/>
            </a:pPr>
            <a:r>
              <a:rPr lang="en-US" sz="255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可量化的投资回报</a:t>
            </a:r>
            <a:endParaRPr lang="en-US" sz="2550" dirty="0"/>
          </a:p>
        </p:txBody>
      </p:sp>
      <p:pic>
        <p:nvPicPr>
          <p:cNvPr id="3" name="Image 0" descr="/tmp/rasterized-gradient-efe36e6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1192709"/>
            <a:ext cx="4191000" cy="100191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2925" y="1354634"/>
            <a:ext cx="70012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不良率降低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42925" y="1552724"/>
            <a:ext cx="700123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80"/>
              </a:lnSpc>
              <a:spcBef>
                <a:spcPts val="300"/>
              </a:spcBef>
              <a:buNone/>
            </a:pPr>
            <a:r>
              <a:rPr lang="en-US" sz="27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2700" dirty="0"/>
          </a:p>
        </p:txBody>
      </p:sp>
      <p:pic>
        <p:nvPicPr>
          <p:cNvPr id="6" name="Image 1" descr="/tmp/rasterized-gradient-a3394cd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308920"/>
            <a:ext cx="4191000" cy="100191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2925" y="2470845"/>
            <a:ext cx="69951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分析效率提升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542925" y="2668935"/>
            <a:ext cx="699516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80"/>
              </a:lnSpc>
              <a:spcBef>
                <a:spcPts val="300"/>
              </a:spcBef>
              <a:buNone/>
            </a:pPr>
            <a:r>
              <a:rPr lang="en-US" sz="27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10x</a:t>
            </a:r>
            <a:endParaRPr lang="en-US" sz="2700" dirty="0"/>
          </a:p>
        </p:txBody>
      </p:sp>
      <p:pic>
        <p:nvPicPr>
          <p:cNvPr id="9" name="Image 2" descr="/tmp/rasterized-gradient-671455a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425130"/>
            <a:ext cx="4191000" cy="100191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42925" y="3587055"/>
            <a:ext cx="113762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年均质量成本节省</a:t>
            </a:r>
            <a:endParaRPr lang="en-US" sz="900" dirty="0"/>
          </a:p>
        </p:txBody>
      </p:sp>
      <p:sp>
        <p:nvSpPr>
          <p:cNvPr id="11" name="Text 6"/>
          <p:cNvSpPr/>
          <p:nvPr/>
        </p:nvSpPr>
        <p:spPr>
          <a:xfrm>
            <a:off x="542925" y="3785146"/>
            <a:ext cx="1137624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80"/>
              </a:lnSpc>
              <a:spcBef>
                <a:spcPts val="300"/>
              </a:spcBef>
              <a:buNone/>
            </a:pPr>
            <a:r>
              <a:rPr lang="en-US" sz="27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¥50万+</a:t>
            </a:r>
            <a:endParaRPr lang="en-US" sz="2700" dirty="0"/>
          </a:p>
        </p:txBody>
      </p:sp>
      <p:sp>
        <p:nvSpPr>
          <p:cNvPr id="12" name="Text 7"/>
          <p:cNvSpPr/>
          <p:nvPr/>
        </p:nvSpPr>
        <p:spPr>
          <a:xfrm>
            <a:off x="4762500" y="1303139"/>
            <a:ext cx="4000500" cy="681930"/>
          </a:xfrm>
          <a:prstGeom prst="roundRect">
            <a:avLst>
              <a:gd name="adj" fmla="val 13968"/>
            </a:avLst>
          </a:prstGeom>
          <a:solidFill>
            <a:srgbClr val="1522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8"/>
          <p:cNvSpPr/>
          <p:nvPr/>
        </p:nvSpPr>
        <p:spPr>
          <a:xfrm>
            <a:off x="4895850" y="1436489"/>
            <a:ext cx="380847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降低使用门槛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4895850" y="1680270"/>
            <a:ext cx="380847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无需SPC专业背景，一线员工即可独立完成质量分析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4762500" y="2080320"/>
            <a:ext cx="4000500" cy="681930"/>
          </a:xfrm>
          <a:prstGeom prst="roundRect">
            <a:avLst>
              <a:gd name="adj" fmla="val 13968"/>
            </a:avLst>
          </a:prstGeom>
          <a:solidFill>
            <a:srgbClr val="1522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1"/>
          <p:cNvSpPr/>
          <p:nvPr/>
        </p:nvSpPr>
        <p:spPr>
          <a:xfrm>
            <a:off x="4895850" y="2213670"/>
            <a:ext cx="380847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缩短响应时间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4895850" y="2457450"/>
            <a:ext cx="380847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从发现异常到预警推送仅需秒级，问题处置前移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4762500" y="2857500"/>
            <a:ext cx="4000500" cy="681930"/>
          </a:xfrm>
          <a:prstGeom prst="roundRect">
            <a:avLst>
              <a:gd name="adj" fmla="val 13968"/>
            </a:avLst>
          </a:prstGeom>
          <a:solidFill>
            <a:srgbClr val="1522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4895850" y="2990850"/>
            <a:ext cx="380847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提升决策质量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4895850" y="3234630"/>
            <a:ext cx="380847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专业控制图和分析报告，为管理决策提供数据支撑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4762500" y="3634680"/>
            <a:ext cx="4000500" cy="681930"/>
          </a:xfrm>
          <a:prstGeom prst="roundRect">
            <a:avLst>
              <a:gd name="adj" fmla="val 13968"/>
            </a:avLst>
          </a:prstGeom>
          <a:solidFill>
            <a:srgbClr val="1522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7"/>
          <p:cNvSpPr/>
          <p:nvPr/>
        </p:nvSpPr>
        <p:spPr>
          <a:xfrm>
            <a:off x="4895850" y="3768030"/>
            <a:ext cx="380847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支持持续改进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4895850" y="4011811"/>
            <a:ext cx="380847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历史数据分析和趋势追踪，驱动PDCA改进循环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应用场景</a:t>
            </a:r>
            <a:pPr algn="l" indent="0" marL="0">
              <a:lnSpc>
                <a:spcPts val="2550"/>
              </a:lnSpc>
              <a:buNone/>
            </a:pPr>
            <a:r>
              <a:rPr lang="en-US" sz="255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跨行业质量管理</a:t>
            </a:r>
            <a:endParaRPr lang="en-US" sz="2550" dirty="0"/>
          </a:p>
        </p:txBody>
      </p:sp>
      <p:pic>
        <p:nvPicPr>
          <p:cNvPr id="3" name="Image 0" descr="/tmp/rasterized-gradient-f0bd901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857250"/>
            <a:ext cx="2667000" cy="38290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81025" y="1057275"/>
            <a:ext cx="2312289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spcAft>
                <a:spcPts val="600"/>
              </a:spcAft>
              <a:buNone/>
            </a:pPr>
            <a:r>
              <a:rPr lang="en-US" sz="24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🏭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81025" y="1560165"/>
            <a:ext cx="231228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制造业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81025" y="1895326"/>
            <a:ext cx="231228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产线尺寸公差监控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81025" y="2093416"/>
            <a:ext cx="231228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设备参数稳定性分析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81025" y="2291507"/>
            <a:ext cx="231228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来料检验质量追踪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81025" y="2489597"/>
            <a:ext cx="231228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成品不良率控制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81025" y="4187279"/>
            <a:ext cx="2266950" cy="298996"/>
          </a:xfrm>
          <a:prstGeom prst="roundRect">
            <a:avLst>
              <a:gd name="adj" fmla="val 25485"/>
            </a:avLst>
          </a:prstGeom>
          <a:solidFill>
            <a:srgbClr val="00D4A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36080" y="4263479"/>
            <a:ext cx="215684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汽车/电子/机械/食品</a:t>
            </a:r>
            <a:endParaRPr lang="en-US" sz="825" dirty="0"/>
          </a:p>
        </p:txBody>
      </p:sp>
      <p:pic>
        <p:nvPicPr>
          <p:cNvPr id="12" name="Image 1" descr="/tmp/rasterized-gradient-524ef2e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500" y="857250"/>
            <a:ext cx="2667000" cy="382905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38525" y="1057275"/>
            <a:ext cx="2312289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spcAft>
                <a:spcPts val="600"/>
              </a:spcAft>
              <a:buNone/>
            </a:pPr>
            <a:r>
              <a:rPr lang="en-US" sz="24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💊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3438525" y="1560165"/>
            <a:ext cx="231228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医药行业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3438525" y="1895326"/>
            <a:ext cx="231228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药品含量均匀度监控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3438525" y="2093416"/>
            <a:ext cx="231228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无菌生产环境监测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3438525" y="2291507"/>
            <a:ext cx="231228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批次间一致性分析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3438525" y="2489597"/>
            <a:ext cx="231228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GMP合规性追溯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3438525" y="4187279"/>
            <a:ext cx="2266950" cy="298996"/>
          </a:xfrm>
          <a:prstGeom prst="roundRect">
            <a:avLst>
              <a:gd name="adj" fmla="val 25485"/>
            </a:avLst>
          </a:prstGeom>
          <a:solidFill>
            <a:srgbClr val="FF6B35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3493580" y="4263479"/>
            <a:ext cx="215684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制药/医疗器械/生物</a:t>
            </a:r>
            <a:endParaRPr lang="en-US" sz="825" dirty="0"/>
          </a:p>
        </p:txBody>
      </p:sp>
      <p:pic>
        <p:nvPicPr>
          <p:cNvPr id="21" name="Image 2" descr="/tmp/rasterized-gradient-b51950e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857250"/>
            <a:ext cx="2667000" cy="382905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296025" y="1057275"/>
            <a:ext cx="2312289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spcAft>
                <a:spcPts val="600"/>
              </a:spcAft>
              <a:buNone/>
            </a:pPr>
            <a:r>
              <a:rPr lang="en-US" sz="24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</a:t>
            </a:r>
            <a:endParaRPr lang="en-US" sz="2400" dirty="0"/>
          </a:p>
        </p:txBody>
      </p:sp>
      <p:sp>
        <p:nvSpPr>
          <p:cNvPr id="23" name="Text 18"/>
          <p:cNvSpPr/>
          <p:nvPr/>
        </p:nvSpPr>
        <p:spPr>
          <a:xfrm>
            <a:off x="6296025" y="1560165"/>
            <a:ext cx="231228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服务业</a:t>
            </a:r>
            <a:endParaRPr lang="en-US" sz="1350" dirty="0"/>
          </a:p>
        </p:txBody>
      </p:sp>
      <p:sp>
        <p:nvSpPr>
          <p:cNvPr id="24" name="Text 19"/>
          <p:cNvSpPr/>
          <p:nvPr/>
        </p:nvSpPr>
        <p:spPr>
          <a:xfrm>
            <a:off x="6296025" y="1895326"/>
            <a:ext cx="231228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客服响应时间监控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6296025" y="2093416"/>
            <a:ext cx="231228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订单处理效率分析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6296025" y="2291507"/>
            <a:ext cx="231228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服务满意度追踪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6296025" y="2489597"/>
            <a:ext cx="231228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运营KPI异常预警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6296025" y="4187279"/>
            <a:ext cx="2266950" cy="298996"/>
          </a:xfrm>
          <a:prstGeom prst="roundRect">
            <a:avLst>
              <a:gd name="adj" fmla="val 25485"/>
            </a:avLst>
          </a:prstGeom>
          <a:solidFill>
            <a:srgbClr val="00D4A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4"/>
          <p:cNvSpPr/>
          <p:nvPr/>
        </p:nvSpPr>
        <p:spPr>
          <a:xfrm>
            <a:off x="6351080" y="4263479"/>
            <a:ext cx="215684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金融/物流/零售/互联网</a:t>
            </a:r>
            <a:endParaRPr lang="en-US" sz="8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技术优势</a:t>
            </a:r>
            <a:pPr algn="l" indent="0" marL="0">
              <a:lnSpc>
                <a:spcPts val="2550"/>
              </a:lnSpc>
              <a:buNone/>
            </a:pPr>
            <a:r>
              <a:rPr lang="en-US" sz="255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为什么选择我们</a:t>
            </a:r>
            <a:endParaRPr lang="en-US" sz="2550" dirty="0"/>
          </a:p>
        </p:txBody>
      </p:sp>
      <p:pic>
        <p:nvPicPr>
          <p:cNvPr id="3" name="Image 0" descr="/tmp/rasterized-gradient-f92ec1d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1800225"/>
            <a:ext cx="419100" cy="4191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9730" y="1863030"/>
            <a:ext cx="266721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933450" y="1800225"/>
            <a:ext cx="42553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Agent架构</a:t>
            </a:r>
            <a:endParaRPr lang="en-US" sz="1125" dirty="0"/>
          </a:p>
        </p:txBody>
      </p:sp>
      <p:sp>
        <p:nvSpPr>
          <p:cNvPr id="6" name="Text 3"/>
          <p:cNvSpPr/>
          <p:nvPr/>
        </p:nvSpPr>
        <p:spPr>
          <a:xfrm>
            <a:off x="933450" y="2038350"/>
            <a:ext cx="425538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基于大语言模型的智能代理，具备自主决策能力</a:t>
            </a:r>
            <a:endParaRPr lang="en-US" sz="900" dirty="0"/>
          </a:p>
        </p:txBody>
      </p:sp>
      <p:pic>
        <p:nvPicPr>
          <p:cNvPr id="7" name="Image 1" descr="/tmp/rasterized-gradient-0d1178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333625"/>
            <a:ext cx="419100" cy="4191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9730" y="2396430"/>
            <a:ext cx="266721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933450" y="2333625"/>
            <a:ext cx="42553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专业算法引擎</a:t>
            </a:r>
            <a:endParaRPr lang="en-US" sz="1125" dirty="0"/>
          </a:p>
        </p:txBody>
      </p:sp>
      <p:sp>
        <p:nvSpPr>
          <p:cNvPr id="10" name="Text 6"/>
          <p:cNvSpPr/>
          <p:nvPr/>
        </p:nvSpPr>
        <p:spPr>
          <a:xfrm>
            <a:off x="933450" y="2571750"/>
            <a:ext cx="425538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内置ISO 7870-2标准SPC计算逻辑</a:t>
            </a:r>
            <a:endParaRPr lang="en-US" sz="900" dirty="0"/>
          </a:p>
        </p:txBody>
      </p:sp>
      <p:pic>
        <p:nvPicPr>
          <p:cNvPr id="11" name="Image 2" descr="/tmp/rasterized-gradient-270c942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2867025"/>
            <a:ext cx="419100" cy="4191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59730" y="2929830"/>
            <a:ext cx="266721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🔌</a:t>
            </a:r>
            <a:endParaRPr lang="en-US" sz="1650" dirty="0"/>
          </a:p>
        </p:txBody>
      </p:sp>
      <p:sp>
        <p:nvSpPr>
          <p:cNvPr id="13" name="Text 8"/>
          <p:cNvSpPr/>
          <p:nvPr/>
        </p:nvSpPr>
        <p:spPr>
          <a:xfrm>
            <a:off x="933450" y="2867025"/>
            <a:ext cx="42553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灵活集成能力</a:t>
            </a:r>
            <a:endParaRPr lang="en-US" sz="1125" dirty="0"/>
          </a:p>
        </p:txBody>
      </p:sp>
      <p:sp>
        <p:nvSpPr>
          <p:cNvPr id="14" name="Text 9"/>
          <p:cNvSpPr/>
          <p:nvPr/>
        </p:nvSpPr>
        <p:spPr>
          <a:xfrm>
            <a:off x="933450" y="3105150"/>
            <a:ext cx="425538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标准API接口，与MES/ERP无缝对接</a:t>
            </a:r>
            <a:endParaRPr lang="en-US" sz="900" dirty="0"/>
          </a:p>
        </p:txBody>
      </p:sp>
      <p:pic>
        <p:nvPicPr>
          <p:cNvPr id="15" name="Image 3" descr="/tmp/rasterized-gradient-5dbb956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3400425"/>
            <a:ext cx="419100" cy="4191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59730" y="3463230"/>
            <a:ext cx="266721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☁️</a:t>
            </a:r>
            <a:endParaRPr lang="en-US" sz="1650" dirty="0"/>
          </a:p>
        </p:txBody>
      </p:sp>
      <p:sp>
        <p:nvSpPr>
          <p:cNvPr id="17" name="Text 11"/>
          <p:cNvSpPr/>
          <p:nvPr/>
        </p:nvSpPr>
        <p:spPr>
          <a:xfrm>
            <a:off x="933450" y="3400425"/>
            <a:ext cx="42553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云边协同部署</a:t>
            </a:r>
            <a:endParaRPr lang="en-US" sz="1125" dirty="0"/>
          </a:p>
        </p:txBody>
      </p:sp>
      <p:sp>
        <p:nvSpPr>
          <p:cNvPr id="18" name="Text 12"/>
          <p:cNvSpPr/>
          <p:nvPr/>
        </p:nvSpPr>
        <p:spPr>
          <a:xfrm>
            <a:off x="933450" y="3638550"/>
            <a:ext cx="425538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支持公有云SaaS、私有云和边缘部署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5334000" y="1256407"/>
            <a:ext cx="3429000" cy="3106936"/>
          </a:xfrm>
          <a:prstGeom prst="roundRect">
            <a:avLst>
              <a:gd name="adj" fmla="val 4905"/>
            </a:avLst>
          </a:prstGeom>
          <a:solidFill>
            <a:srgbClr val="1522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4"/>
          <p:cNvSpPr/>
          <p:nvPr/>
        </p:nvSpPr>
        <p:spPr>
          <a:xfrm>
            <a:off x="5486400" y="1408807"/>
            <a:ext cx="318668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900"/>
              </a:spcAft>
              <a:buNone/>
            </a:pPr>
            <a:r>
              <a:rPr lang="en-US" sz="975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对比传统方案</a:t>
            </a:r>
            <a:endParaRPr lang="en-US" sz="975" dirty="0"/>
          </a:p>
        </p:txBody>
      </p:sp>
      <p:sp>
        <p:nvSpPr>
          <p:cNvPr id="21" name="Text 15"/>
          <p:cNvSpPr/>
          <p:nvPr/>
        </p:nvSpPr>
        <p:spPr>
          <a:xfrm>
            <a:off x="5486400" y="1696343"/>
            <a:ext cx="1041350" cy="419100"/>
          </a:xfrm>
          <a:prstGeom prst="roundRect">
            <a:avLst>
              <a:gd name="adj" fmla="val 13636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6"/>
          <p:cNvSpPr/>
          <p:nvPr/>
        </p:nvSpPr>
        <p:spPr>
          <a:xfrm>
            <a:off x="6527750" y="1696343"/>
            <a:ext cx="1041350" cy="41910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7"/>
          <p:cNvSpPr/>
          <p:nvPr/>
        </p:nvSpPr>
        <p:spPr>
          <a:xfrm>
            <a:off x="6575630" y="1772543"/>
            <a:ext cx="9455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传统SPC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7569101" y="1696343"/>
            <a:ext cx="1041499" cy="419100"/>
          </a:xfrm>
          <a:prstGeom prst="rect">
            <a:avLst/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19"/>
          <p:cNvSpPr/>
          <p:nvPr/>
        </p:nvSpPr>
        <p:spPr>
          <a:xfrm>
            <a:off x="7616979" y="1772543"/>
            <a:ext cx="94574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我们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5486400" y="2115443"/>
            <a:ext cx="1041350" cy="41910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1"/>
          <p:cNvSpPr/>
          <p:nvPr/>
        </p:nvSpPr>
        <p:spPr>
          <a:xfrm>
            <a:off x="5543550" y="2191643"/>
            <a:ext cx="9455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学习成本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6527750" y="2115443"/>
            <a:ext cx="1041350" cy="41910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3"/>
          <p:cNvSpPr/>
          <p:nvPr/>
        </p:nvSpPr>
        <p:spPr>
          <a:xfrm>
            <a:off x="6575630" y="2191643"/>
            <a:ext cx="9455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数周培训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7569101" y="2115443"/>
            <a:ext cx="1041499" cy="419100"/>
          </a:xfrm>
          <a:prstGeom prst="rect">
            <a:avLst/>
          </a:prstGeom>
          <a:solidFill>
            <a:srgbClr val="00D4A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5"/>
          <p:cNvSpPr/>
          <p:nvPr/>
        </p:nvSpPr>
        <p:spPr>
          <a:xfrm>
            <a:off x="7616979" y="2191643"/>
            <a:ext cx="94574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零门槛</a:t>
            </a:r>
            <a:endParaRPr lang="en-US" sz="1500" dirty="0"/>
          </a:p>
        </p:txBody>
      </p:sp>
      <p:sp>
        <p:nvSpPr>
          <p:cNvPr id="32" name="Text 26"/>
          <p:cNvSpPr/>
          <p:nvPr/>
        </p:nvSpPr>
        <p:spPr>
          <a:xfrm>
            <a:off x="5486400" y="2534543"/>
            <a:ext cx="1041350" cy="41910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7"/>
          <p:cNvSpPr/>
          <p:nvPr/>
        </p:nvSpPr>
        <p:spPr>
          <a:xfrm>
            <a:off x="5543550" y="2610743"/>
            <a:ext cx="9455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分析速度</a:t>
            </a:r>
            <a:endParaRPr lang="en-US" sz="1500" dirty="0"/>
          </a:p>
        </p:txBody>
      </p:sp>
      <p:sp>
        <p:nvSpPr>
          <p:cNvPr id="34" name="Text 28"/>
          <p:cNvSpPr/>
          <p:nvPr/>
        </p:nvSpPr>
        <p:spPr>
          <a:xfrm>
            <a:off x="6527750" y="2534543"/>
            <a:ext cx="1041350" cy="41910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29"/>
          <p:cNvSpPr/>
          <p:nvPr/>
        </p:nvSpPr>
        <p:spPr>
          <a:xfrm>
            <a:off x="6575630" y="2610743"/>
            <a:ext cx="9455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小时级</a:t>
            </a:r>
            <a:endParaRPr lang="en-US" sz="1500" dirty="0"/>
          </a:p>
        </p:txBody>
      </p:sp>
      <p:sp>
        <p:nvSpPr>
          <p:cNvPr id="36" name="Text 30"/>
          <p:cNvSpPr/>
          <p:nvPr/>
        </p:nvSpPr>
        <p:spPr>
          <a:xfrm>
            <a:off x="7569101" y="2534543"/>
            <a:ext cx="1041499" cy="419100"/>
          </a:xfrm>
          <a:prstGeom prst="rect">
            <a:avLst/>
          </a:prstGeom>
          <a:solidFill>
            <a:srgbClr val="00D4A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1"/>
          <p:cNvSpPr/>
          <p:nvPr/>
        </p:nvSpPr>
        <p:spPr>
          <a:xfrm>
            <a:off x="7616979" y="2610743"/>
            <a:ext cx="94574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秒级</a:t>
            </a:r>
            <a:endParaRPr lang="en-US" sz="1500" dirty="0"/>
          </a:p>
        </p:txBody>
      </p:sp>
      <p:sp>
        <p:nvSpPr>
          <p:cNvPr id="38" name="Text 32"/>
          <p:cNvSpPr/>
          <p:nvPr/>
        </p:nvSpPr>
        <p:spPr>
          <a:xfrm>
            <a:off x="5486400" y="2953643"/>
            <a:ext cx="1041350" cy="41910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3"/>
          <p:cNvSpPr/>
          <p:nvPr/>
        </p:nvSpPr>
        <p:spPr>
          <a:xfrm>
            <a:off x="5543550" y="3029843"/>
            <a:ext cx="9455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图表选择</a:t>
            </a:r>
            <a:endParaRPr lang="en-US" sz="1500" dirty="0"/>
          </a:p>
        </p:txBody>
      </p:sp>
      <p:sp>
        <p:nvSpPr>
          <p:cNvPr id="40" name="Text 34"/>
          <p:cNvSpPr/>
          <p:nvPr/>
        </p:nvSpPr>
        <p:spPr>
          <a:xfrm>
            <a:off x="6527750" y="2953643"/>
            <a:ext cx="1041350" cy="41910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5"/>
          <p:cNvSpPr/>
          <p:nvPr/>
        </p:nvSpPr>
        <p:spPr>
          <a:xfrm>
            <a:off x="6575630" y="3029843"/>
            <a:ext cx="9455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人工判断</a:t>
            </a:r>
            <a:endParaRPr lang="en-US" sz="1500" dirty="0"/>
          </a:p>
        </p:txBody>
      </p:sp>
      <p:sp>
        <p:nvSpPr>
          <p:cNvPr id="42" name="Text 36"/>
          <p:cNvSpPr/>
          <p:nvPr/>
        </p:nvSpPr>
        <p:spPr>
          <a:xfrm>
            <a:off x="7569101" y="2953643"/>
            <a:ext cx="1041499" cy="419100"/>
          </a:xfrm>
          <a:prstGeom prst="rect">
            <a:avLst/>
          </a:prstGeom>
          <a:solidFill>
            <a:srgbClr val="00D4A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37"/>
          <p:cNvSpPr/>
          <p:nvPr/>
        </p:nvSpPr>
        <p:spPr>
          <a:xfrm>
            <a:off x="7616979" y="3029843"/>
            <a:ext cx="94574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AI自动</a:t>
            </a:r>
            <a:endParaRPr lang="en-US" sz="1500" dirty="0"/>
          </a:p>
        </p:txBody>
      </p:sp>
      <p:sp>
        <p:nvSpPr>
          <p:cNvPr id="44" name="Text 38"/>
          <p:cNvSpPr/>
          <p:nvPr/>
        </p:nvSpPr>
        <p:spPr>
          <a:xfrm>
            <a:off x="5486400" y="3372743"/>
            <a:ext cx="1041350" cy="41910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39"/>
          <p:cNvSpPr/>
          <p:nvPr/>
        </p:nvSpPr>
        <p:spPr>
          <a:xfrm>
            <a:off x="5543550" y="3448943"/>
            <a:ext cx="9455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异常检测</a:t>
            </a:r>
            <a:endParaRPr lang="en-US" sz="1500" dirty="0"/>
          </a:p>
        </p:txBody>
      </p:sp>
      <p:sp>
        <p:nvSpPr>
          <p:cNvPr id="46" name="Text 40"/>
          <p:cNvSpPr/>
          <p:nvPr/>
        </p:nvSpPr>
        <p:spPr>
          <a:xfrm>
            <a:off x="6527750" y="3372743"/>
            <a:ext cx="1041350" cy="41910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1"/>
          <p:cNvSpPr/>
          <p:nvPr/>
        </p:nvSpPr>
        <p:spPr>
          <a:xfrm>
            <a:off x="6575630" y="3448943"/>
            <a:ext cx="9455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事后发现</a:t>
            </a:r>
            <a:endParaRPr lang="en-US" sz="1500" dirty="0"/>
          </a:p>
        </p:txBody>
      </p:sp>
      <p:sp>
        <p:nvSpPr>
          <p:cNvPr id="48" name="Text 42"/>
          <p:cNvSpPr/>
          <p:nvPr/>
        </p:nvSpPr>
        <p:spPr>
          <a:xfrm>
            <a:off x="7569101" y="3372743"/>
            <a:ext cx="1041499" cy="419100"/>
          </a:xfrm>
          <a:prstGeom prst="rect">
            <a:avLst/>
          </a:prstGeom>
          <a:solidFill>
            <a:srgbClr val="00D4A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3"/>
          <p:cNvSpPr/>
          <p:nvPr/>
        </p:nvSpPr>
        <p:spPr>
          <a:xfrm>
            <a:off x="7616979" y="3448943"/>
            <a:ext cx="94574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实时预警</a:t>
            </a:r>
            <a:endParaRPr lang="en-US" sz="1500" dirty="0"/>
          </a:p>
        </p:txBody>
      </p:sp>
      <p:sp>
        <p:nvSpPr>
          <p:cNvPr id="50" name="Text 44"/>
          <p:cNvSpPr/>
          <p:nvPr/>
        </p:nvSpPr>
        <p:spPr>
          <a:xfrm>
            <a:off x="5486400" y="3791843"/>
            <a:ext cx="1041350" cy="41910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5"/>
          <p:cNvSpPr/>
          <p:nvPr/>
        </p:nvSpPr>
        <p:spPr>
          <a:xfrm>
            <a:off x="5543550" y="3868043"/>
            <a:ext cx="9455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系统集成</a:t>
            </a:r>
            <a:endParaRPr lang="en-US" sz="1500" dirty="0"/>
          </a:p>
        </p:txBody>
      </p:sp>
      <p:sp>
        <p:nvSpPr>
          <p:cNvPr id="52" name="Text 46"/>
          <p:cNvSpPr/>
          <p:nvPr/>
        </p:nvSpPr>
        <p:spPr>
          <a:xfrm>
            <a:off x="6527750" y="3791843"/>
            <a:ext cx="1041350" cy="41910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47"/>
          <p:cNvSpPr/>
          <p:nvPr/>
        </p:nvSpPr>
        <p:spPr>
          <a:xfrm>
            <a:off x="6575630" y="3868043"/>
            <a:ext cx="9455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独立软件</a:t>
            </a:r>
            <a:endParaRPr lang="en-US" sz="1500" dirty="0"/>
          </a:p>
        </p:txBody>
      </p:sp>
      <p:sp>
        <p:nvSpPr>
          <p:cNvPr id="54" name="Text 48"/>
          <p:cNvSpPr/>
          <p:nvPr/>
        </p:nvSpPr>
        <p:spPr>
          <a:xfrm>
            <a:off x="7569101" y="3791843"/>
            <a:ext cx="1041499" cy="419100"/>
          </a:xfrm>
          <a:prstGeom prst="rect">
            <a:avLst/>
          </a:prstGeom>
          <a:solidFill>
            <a:srgbClr val="00D4A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49"/>
          <p:cNvSpPr/>
          <p:nvPr/>
        </p:nvSpPr>
        <p:spPr>
          <a:xfrm>
            <a:off x="7616979" y="3868043"/>
            <a:ext cx="94574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API对接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产品版本</a:t>
            </a:r>
            <a:pPr algn="l" indent="0" marL="0">
              <a:lnSpc>
                <a:spcPts val="2550"/>
              </a:lnSpc>
              <a:buNone/>
            </a:pPr>
            <a:r>
              <a:rPr lang="en-US" sz="255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灵活的定价方案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762000" y="1153716"/>
            <a:ext cx="2381250" cy="3274219"/>
          </a:xfrm>
          <a:prstGeom prst="roundRect">
            <a:avLst>
              <a:gd name="adj" fmla="val 6400"/>
            </a:avLst>
          </a:prstGeom>
          <a:solidFill>
            <a:srgbClr val="152238"/>
          </a:solidFill>
          <a:ln w="9525">
            <a:solidFill>
              <a:srgbClr val="2A4A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81075" y="1391841"/>
            <a:ext cx="19431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基础版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981075" y="1622227"/>
            <a:ext cx="1943100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spcBef>
                <a:spcPts val="450"/>
              </a:spcBef>
              <a:buNone/>
            </a:pPr>
            <a:r>
              <a:rPr lang="en-US" sz="24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¥9,800/年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00125" y="2182267"/>
            <a:ext cx="1905000" cy="9525"/>
          </a:xfrm>
          <a:prstGeom prst="rect">
            <a:avLst/>
          </a:prstGeom>
          <a:solidFill>
            <a:srgbClr val="2A4A6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81075" y="2325142"/>
            <a:ext cx="19431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单用户授权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81075" y="2523232"/>
            <a:ext cx="19431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7种标准控制图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81075" y="2721322"/>
            <a:ext cx="19431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西联规则检测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81075" y="2919413"/>
            <a:ext cx="19431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Excel/CSV导入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81075" y="3117503"/>
            <a:ext cx="19431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基础报告导出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81075" y="3315593"/>
            <a:ext cx="19431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A4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API接口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81075" y="3513683"/>
            <a:ext cx="19431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2A4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多渠道预警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00125" y="3826073"/>
            <a:ext cx="1905000" cy="363736"/>
          </a:xfrm>
          <a:prstGeom prst="roundRect">
            <a:avLst>
              <a:gd name="adj" fmla="val 20949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078230" y="3921323"/>
            <a:ext cx="174879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适合个人/小团队</a:t>
            </a:r>
            <a:endParaRPr lang="en-US" sz="975" dirty="0"/>
          </a:p>
        </p:txBody>
      </p:sp>
      <p:pic>
        <p:nvPicPr>
          <p:cNvPr id="16" name="Image 0" descr="/tmp/rasterized-gradient-40d5bb5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33750" y="1136600"/>
            <a:ext cx="2476500" cy="3308449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276850" y="1041350"/>
            <a:ext cx="381000" cy="19050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5370195" y="1069925"/>
            <a:ext cx="1943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推荐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3542157" y="1365200"/>
            <a:ext cx="205968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专业版</a:t>
            </a:r>
            <a:endParaRPr lang="en-US" sz="975" dirty="0"/>
          </a:p>
        </p:txBody>
      </p:sp>
      <p:sp>
        <p:nvSpPr>
          <p:cNvPr id="20" name="Text 17"/>
          <p:cNvSpPr/>
          <p:nvPr/>
        </p:nvSpPr>
        <p:spPr>
          <a:xfrm>
            <a:off x="3542157" y="1595586"/>
            <a:ext cx="2059686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spcBef>
                <a:spcPts val="450"/>
              </a:spcBef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¥29,800/年</a:t>
            </a:r>
            <a:endParaRPr lang="en-US" sz="2700" dirty="0"/>
          </a:p>
        </p:txBody>
      </p:sp>
      <p:sp>
        <p:nvSpPr>
          <p:cNvPr id="21" name="Text 18"/>
          <p:cNvSpPr/>
          <p:nvPr/>
        </p:nvSpPr>
        <p:spPr>
          <a:xfrm>
            <a:off x="3562350" y="2208907"/>
            <a:ext cx="2019300" cy="9525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3542157" y="2351782"/>
            <a:ext cx="20596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10用户授权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3542157" y="2549872"/>
            <a:ext cx="20596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全部控制图类型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3542157" y="2747963"/>
            <a:ext cx="20596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西联+自定义规则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3542157" y="2946053"/>
            <a:ext cx="20596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API数据接入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3542157" y="3144143"/>
            <a:ext cx="20596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专业分析报告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542157" y="3342233"/>
            <a:ext cx="20596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企微/钉钉预警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3542157" y="3540323"/>
            <a:ext cx="20596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历史数据分析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3562350" y="3852714"/>
            <a:ext cx="2019300" cy="363736"/>
          </a:xfrm>
          <a:prstGeom prst="roundRect">
            <a:avLst>
              <a:gd name="adj" fmla="val 2094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3639312" y="3947964"/>
            <a:ext cx="186537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立即咨询</a:t>
            </a:r>
            <a:endParaRPr lang="en-US" sz="975" dirty="0"/>
          </a:p>
        </p:txBody>
      </p:sp>
      <p:sp>
        <p:nvSpPr>
          <p:cNvPr id="31" name="Text 28"/>
          <p:cNvSpPr/>
          <p:nvPr/>
        </p:nvSpPr>
        <p:spPr>
          <a:xfrm>
            <a:off x="6000750" y="1153716"/>
            <a:ext cx="2381250" cy="3274219"/>
          </a:xfrm>
          <a:prstGeom prst="roundRect">
            <a:avLst>
              <a:gd name="adj" fmla="val 6400"/>
            </a:avLst>
          </a:prstGeom>
          <a:solidFill>
            <a:srgbClr val="152238"/>
          </a:solidFill>
          <a:ln w="9525">
            <a:solidFill>
              <a:srgbClr val="2A4A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6219825" y="1391841"/>
            <a:ext cx="19431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企业版</a:t>
            </a:r>
            <a:endParaRPr lang="en-US" sz="975" dirty="0"/>
          </a:p>
        </p:txBody>
      </p:sp>
      <p:sp>
        <p:nvSpPr>
          <p:cNvPr id="33" name="Text 30"/>
          <p:cNvSpPr/>
          <p:nvPr/>
        </p:nvSpPr>
        <p:spPr>
          <a:xfrm>
            <a:off x="6219825" y="1622227"/>
            <a:ext cx="1943100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spcBef>
                <a:spcPts val="450"/>
              </a:spcBef>
              <a:buNone/>
            </a:pPr>
            <a:r>
              <a:rPr lang="en-US" sz="24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定制报价</a:t>
            </a:r>
            <a:endParaRPr lang="en-US" sz="2400" dirty="0"/>
          </a:p>
        </p:txBody>
      </p:sp>
      <p:sp>
        <p:nvSpPr>
          <p:cNvPr id="34" name="Text 31"/>
          <p:cNvSpPr/>
          <p:nvPr/>
        </p:nvSpPr>
        <p:spPr>
          <a:xfrm>
            <a:off x="6238875" y="2182267"/>
            <a:ext cx="1905000" cy="9525"/>
          </a:xfrm>
          <a:prstGeom prst="rect">
            <a:avLst/>
          </a:prstGeom>
          <a:solidFill>
            <a:srgbClr val="2A4A6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6219825" y="2325142"/>
            <a:ext cx="19431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不限用户数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6219825" y="2523232"/>
            <a:ext cx="19431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私有化部署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6219825" y="2721322"/>
            <a:ext cx="19431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定制开发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6219825" y="2919413"/>
            <a:ext cx="19431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MES/ERP集成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6219825" y="3117503"/>
            <a:ext cx="19431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专属技术支持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6219825" y="3315593"/>
            <a:ext cx="19431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SLA服务保障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6219825" y="3513683"/>
            <a:ext cx="19431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现场实施培训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6238875" y="3826073"/>
            <a:ext cx="1905000" cy="363736"/>
          </a:xfrm>
          <a:prstGeom prst="roundRect">
            <a:avLst>
              <a:gd name="adj" fmla="val 20949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0"/>
          <p:cNvSpPr/>
          <p:nvPr/>
        </p:nvSpPr>
        <p:spPr>
          <a:xfrm>
            <a:off x="6316980" y="3921323"/>
            <a:ext cx="174879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适合大型企业</a:t>
            </a:r>
            <a:endParaRPr lang="en-US" sz="9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91494" y="663178"/>
            <a:ext cx="196101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YOUR JOURNEY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2434590" y="1141214"/>
            <a:ext cx="427482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00"/>
              </a:lnSpc>
              <a:spcBef>
                <a:spcPts val="1200"/>
              </a:spcBef>
              <a:buNone/>
            </a:pPr>
            <a:r>
              <a:rPr lang="en-US" sz="33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开启智能质量管理之旅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3250542" y="1827014"/>
            <a:ext cx="264276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900"/>
              </a:spcBef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立即预约演示，体验AI驱动的SPC分析</a:t>
            </a:r>
            <a:endParaRPr lang="en-US" sz="1200" dirty="0"/>
          </a:p>
        </p:txBody>
      </p:sp>
      <p:pic>
        <p:nvPicPr>
          <p:cNvPr id="5" name="Image 0" descr="/tmp/rasterized-gradient-06244b3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19450" y="2516535"/>
            <a:ext cx="1257300" cy="4667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556635" y="2649885"/>
            <a:ext cx="58293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预约演示</a:t>
            </a:r>
            <a:endParaRPr lang="en-US" sz="1125" dirty="0"/>
          </a:p>
        </p:txBody>
      </p:sp>
      <p:sp>
        <p:nvSpPr>
          <p:cNvPr id="7" name="Text 4"/>
          <p:cNvSpPr/>
          <p:nvPr/>
        </p:nvSpPr>
        <p:spPr>
          <a:xfrm>
            <a:off x="4629150" y="2497485"/>
            <a:ext cx="1295400" cy="504825"/>
          </a:xfrm>
          <a:prstGeom prst="roundRect">
            <a:avLst>
              <a:gd name="adj" fmla="val 18868"/>
            </a:avLst>
          </a:prstGeom>
          <a:noFill/>
          <a:ln w="19050">
            <a:solidFill>
              <a:srgbClr val="2A4A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4985385" y="2649885"/>
            <a:ext cx="58293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获取资料</a:t>
            </a:r>
            <a:endParaRPr lang="en-US" sz="1125" dirty="0"/>
          </a:p>
        </p:txBody>
      </p:sp>
      <p:sp>
        <p:nvSpPr>
          <p:cNvPr id="9" name="Text 6"/>
          <p:cNvSpPr/>
          <p:nvPr/>
        </p:nvSpPr>
        <p:spPr>
          <a:xfrm>
            <a:off x="2049935" y="3611910"/>
            <a:ext cx="42748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商务咨询</a:t>
            </a:r>
            <a:endParaRPr lang="en-US" sz="825" dirty="0"/>
          </a:p>
        </p:txBody>
      </p:sp>
      <p:sp>
        <p:nvSpPr>
          <p:cNvPr id="10" name="Text 7"/>
          <p:cNvSpPr/>
          <p:nvPr/>
        </p:nvSpPr>
        <p:spPr>
          <a:xfrm>
            <a:off x="1779721" y="3968055"/>
            <a:ext cx="96805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450"/>
              </a:spcBef>
              <a:buNone/>
            </a:pPr>
            <a:r>
              <a:rPr lang="en-US" sz="12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400-888-8888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119289" y="3725168"/>
            <a:ext cx="9525" cy="342900"/>
          </a:xfrm>
          <a:prstGeom prst="rect">
            <a:avLst/>
          </a:prstGeom>
          <a:solidFill>
            <a:srgbClr val="2A4A6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4098852" y="3611910"/>
            <a:ext cx="42748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电子邮箱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3493758" y="3968055"/>
            <a:ext cx="163766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450"/>
              </a:spcBef>
              <a:buNone/>
            </a:pPr>
            <a:r>
              <a:rPr lang="en-US" sz="12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sales@spc-agent.com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496371" y="3725168"/>
            <a:ext cx="9525" cy="342900"/>
          </a:xfrm>
          <a:prstGeom prst="rect">
            <a:avLst/>
          </a:prstGeom>
          <a:solidFill>
            <a:srgbClr val="2A4A6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6407027" y="3611910"/>
            <a:ext cx="42748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官方网站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5872218" y="3968055"/>
            <a:ext cx="149725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450"/>
              </a:spcBef>
              <a:buNone/>
            </a:pPr>
            <a:r>
              <a:rPr lang="en-US" sz="1200" b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www.spc-agent.com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920758" y="4615904"/>
            <a:ext cx="130248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2025 SPC智能分析Agent</a:t>
            </a:r>
            <a:endParaRPr lang="en-US" sz="8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SPC智能分析Agent销售演示</dc:title>
  <dc:subject>PptxGenJS Presentation</dc:subject>
  <dc:creator>SPC Agent Team</dc:creator>
  <cp:lastModifiedBy>SPC Agent Team</cp:lastModifiedBy>
  <cp:revision>1</cp:revision>
  <dcterms:created xsi:type="dcterms:W3CDTF">2026-01-11T01:33:49Z</dcterms:created>
  <dcterms:modified xsi:type="dcterms:W3CDTF">2026-01-11T01:33:49Z</dcterms:modified>
</cp:coreProperties>
</file>